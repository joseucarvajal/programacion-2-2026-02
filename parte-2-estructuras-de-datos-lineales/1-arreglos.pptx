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91440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0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778240" y="91440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E8871E"/>
          </a:solidFill>
          <a:ln w="31750">
            <a:solidFill>
              <a:srgbClr val="F072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0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784080" y="91440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0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789920" y="91440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0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331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Arreglos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Lineales · Programación 2</a:t>
            </a:r>
            <a:endParaRPr lang="en-US" sz="1800" dirty="0"/>
          </a:p>
        </p:txBody>
      </p:sp>
      <p:pic>
        <p:nvPicPr>
          <p:cNvPr id="13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145" y="5943600"/>
            <a:ext cx="390791" cy="457200"/>
          </a:xfrm>
          <a:prstGeom prst="rect">
            <a:avLst/>
          </a:prstGeom>
        </p:spPr>
      </p:pic>
      <p:pic>
        <p:nvPicPr>
          <p:cNvPr id="14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5989320"/>
            <a:ext cx="1859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ARREGLOS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arreglo?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elementos del mismo tipo en posiciones de memoria contiguas.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fijo, definido al momento de crearlo.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posición se ubica como un casillero numerado en una fila.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2635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709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casillero[3]</a:t>
            </a:r>
            <a:pPr indent="0" marL="0">
              <a:buNone/>
            </a:pPr>
            <a:r>
              <a:rPr lang="en-US" sz="13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 ubica sin recorrer los anteriores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9809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05472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05472" y="29809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18704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18704" y="29809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31936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4066"/>
          </a:solidFill>
          <a:ln w="31750">
            <a:solidFill>
              <a:srgbClr val="F072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31936" y="29809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45168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45168" y="29809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0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29809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771632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71632" y="29809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484864" y="23774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84864" y="29809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casilleros de bodega</a:t>
            </a:r>
            <a:endParaRPr lang="en-US" sz="1100" dirty="0"/>
          </a:p>
        </p:txBody>
      </p:sp>
      <p:pic>
        <p:nvPicPr>
          <p:cNvPr id="26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27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ARREGLOS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vs. referencias en Python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(biblioteca estándar) solo admite tipos primitivos homogéneos.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 guarda una fila contigua de referencias, no los objetos en sí.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guardado en cada referencia es la dirección del objeto al que apunta.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577840" y="19659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0" y="1965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casilleros[0]</a:t>
            </a:r>
            <a:endParaRPr lang="en-US" sz="10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0x55a1c220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0" y="1828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6355A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0x55a1c220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7315200" y="2171700"/>
            <a:ext cx="1097280" cy="13716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77840" y="297180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casilleros[1]</a:t>
            </a:r>
            <a:endParaRPr lang="en-US" sz="10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0x55a3f110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0" y="28803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6355A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2880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0x55a3f110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7315200" y="3223260"/>
            <a:ext cx="1097280" cy="9144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39776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3977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casilleros[2]</a:t>
            </a:r>
            <a:endParaRPr lang="en-US" sz="10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0x55a2e090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12480" y="39319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6355A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3931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0x55a2e090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V="1">
            <a:off x="7315200" y="4274820"/>
            <a:ext cx="1097280" cy="4572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5720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dentro de cada casillero coincide con la dirección del Producto al que apunta — por eso es una referencia.</a:t>
            </a:r>
            <a:endParaRPr lang="en-US" sz="1250" dirty="0"/>
          </a:p>
        </p:txBody>
      </p:sp>
      <p:pic>
        <p:nvPicPr>
          <p:cNvPr id="23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24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ARREGLOS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en O(1)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103120" cy="2103120"/>
          </a:xfrm>
          <a:prstGeom prst="ellipse">
            <a:avLst/>
          </a:prstGeom>
          <a:solidFill>
            <a:srgbClr val="2E4066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14884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de casilleros[i] se calcula a partir de la dirección inicial y el tamaño de cada elemento.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recorrer nada: es aritmética directa.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es el mismo si i es la primera posición o la última.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431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71016" y="4892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71016" y="5431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01952" y="4892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01952" y="5431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32888" y="4892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32888" y="5431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63824" y="4892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63824" y="5431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4892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31750">
            <a:solidFill>
              <a:srgbClr val="F072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5431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25696" y="4892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25696" y="5431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56632" y="4892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56632" y="54315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46220" y="4572000"/>
            <a:ext cx="0" cy="320040"/>
          </a:xfrm>
          <a:prstGeom prst="line">
            <a:avLst/>
          </a:prstGeom>
          <a:noFill/>
          <a:ln w="25400">
            <a:solidFill>
              <a:srgbClr val="F07272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84632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directo a casilleros[5]</a:t>
            </a:r>
            <a:endParaRPr lang="en-US" sz="1100" dirty="0"/>
          </a:p>
        </p:txBody>
      </p:sp>
      <p:pic>
        <p:nvPicPr>
          <p:cNvPr id="27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28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ARREGLOS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básicas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669280" cy="237744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(reservar n posiciones)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por posición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Acceder a casilleros[i]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Modificar casilleros[i]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Recorrer todo el arreglo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31750">
            <a:solidFill>
              <a:srgbClr val="F0727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2916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06056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06056" y="2916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36992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36992" y="2916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567928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67928" y="2916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198864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98864" y="2916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82980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29800" y="2916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0460736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460736" y="2916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1091672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4066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091672" y="29169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casilleros[0] y casilleros[1] recién asignados</a:t>
            </a:r>
            <a:endParaRPr lang="en-US" sz="1100" dirty="0"/>
          </a:p>
        </p:txBody>
      </p:sp>
      <p:pic>
        <p:nvPicPr>
          <p:cNvPr id="24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25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ARREGLOS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limitación del tamaño fijo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arreglo no puede crecer: sus posiciones contiguas ya están reservadas.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 después puede haber otra variable ocupando el siguiente espacio.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4A23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7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88136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88136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19072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50008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0008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80944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80944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11880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11880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42816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42816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73752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73752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04688" y="4846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B2540"/>
          </a:solidFill>
          <a:ln w="25400">
            <a:solidFill>
              <a:srgbClr val="F07272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504688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504688" y="5385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8 casilleros ya están ocupados</a:t>
            </a:r>
            <a:endParaRPr lang="en-US" sz="1100" dirty="0"/>
          </a:p>
        </p:txBody>
      </p:sp>
      <p:pic>
        <p:nvPicPr>
          <p:cNvPr id="29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30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ARREGLOS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Crecer un arreglo cuesta O(n)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arreglo nuevo y más grande.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todas las referencias existentes, una por una.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cada vez que el arreglo se queda sin espacio.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9204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B5330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68112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B5330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68112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44184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B5330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44184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0256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B5330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0256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96328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B5330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96328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B5330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48472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B5330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48472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24544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B5330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24544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 original (8, lleno)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68112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68112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44184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44184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0256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0256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96328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96328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72400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48472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8472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924544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24544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500616" y="41605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4066"/>
          </a:solidFill>
          <a:ln w="31750">
            <a:solidFill>
              <a:srgbClr val="F0727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500616" y="4654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892040" y="4873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 nuevo (9) — copia + 1 espacio libre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20640" y="2606040"/>
            <a:ext cx="0" cy="155448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848856" y="2606040"/>
            <a:ext cx="0" cy="155448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153144" y="2606040"/>
            <a:ext cx="0" cy="155448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726948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todo</a:t>
            </a:r>
            <a:endParaRPr lang="en-US" sz="1050" dirty="0"/>
          </a:p>
        </p:txBody>
      </p:sp>
      <p:pic>
        <p:nvPicPr>
          <p:cNvPr id="47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725" y="6263640"/>
            <a:ext cx="234475" cy="274320"/>
          </a:xfrm>
          <a:prstGeom prst="rect">
            <a:avLst/>
          </a:prstGeom>
        </p:spPr>
      </p:pic>
      <p:pic>
        <p:nvPicPr>
          <p:cNvPr id="48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6291072"/>
            <a:ext cx="1115568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 · ARREGLOS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bloque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852160" cy="155448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Crear, acceder, modificar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Recorrer, hacer crecer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B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55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Arreglo: memoria contigua, tamaño fijo, acceso directo por índice.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863840" y="21945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8712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650224" y="21945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50224" y="28712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436608" y="21945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871E"/>
          </a:solidFill>
          <a:ln w="15875">
            <a:solidFill>
              <a:srgbClr val="3E507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36608" y="28712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222992" y="21945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E4066"/>
          </a:solidFill>
          <a:ln w="31750">
            <a:solidFill>
              <a:srgbClr val="F0727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222992" y="28712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6" name="Image 0" descr="/Users/josecarvajal/Documents/UM/courses/programacion-2-template/assets/logo-um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567" y="6035040"/>
            <a:ext cx="312633" cy="365760"/>
          </a:xfrm>
          <a:prstGeom prst="rect">
            <a:avLst/>
          </a:prstGeom>
        </p:spPr>
      </p:pic>
      <p:pic>
        <p:nvPicPr>
          <p:cNvPr id="17" name="Image 1" descr="/Users/josecarvajal/Documents/UM/courses/programacion-2-template/assets/logo-um-texto-bl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216" y="6071616"/>
            <a:ext cx="1487424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2026-09-16T22:06:57Z</dcterms:created>
  <dcterms:modified xsi:type="dcterms:W3CDTF">2026-09-16T22:06:57Z</dcterms:modified>
</cp:coreProperties>
</file>