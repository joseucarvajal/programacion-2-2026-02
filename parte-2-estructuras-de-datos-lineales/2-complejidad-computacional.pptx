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BFBF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BFBF8"/>
                </a:solidFill>
                <a:latin typeface="Calibri"/>
              </a:rPr>
              <a:t>Comparaciones en el peor caso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Búsqueda lineal</c:v>
                </c:pt>
              </c:strCache>
            </c:strRef>
          </c:tx>
          <c:spPr>
            <a:solidFill>
              <a:srgbClr val="E8871E"/>
            </a:solidFill>
            <a:ln w="31750" cap="flat">
              <a:solidFill>
                <a:srgbClr val="E887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BFB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871E"/>
              </a:solidFill>
              <a:ln w="9525" cap="flat">
                <a:solidFill>
                  <a:srgbClr val="E887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100</c:v>
                  </c:pt>
                  <c:pt idx="2">
                    <c:v>1.000</c:v>
                  </c:pt>
                  <c:pt idx="3">
                    <c:v>10.000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Por índice (dict)</c:v>
                </c:pt>
              </c:strCache>
            </c:strRef>
          </c:tx>
          <c:spPr>
            <a:solidFill>
              <a:srgbClr val="5AA9E6"/>
            </a:solidFill>
            <a:ln w="31750" cap="flat">
              <a:solidFill>
                <a:srgbClr val="5AA9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BFB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A9E6"/>
              </a:solidFill>
              <a:ln w="9525" cap="flat">
                <a:solidFill>
                  <a:srgbClr val="5AA9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100</c:v>
                  </c:pt>
                  <c:pt idx="2">
                    <c:v>1.000</c:v>
                  </c:pt>
                  <c:pt idx="3">
                    <c:v>10.000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BFB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E507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0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E507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E507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0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54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9FB0C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B25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BFBF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BFBF8"/>
                </a:solidFill>
                <a:latin typeface="Calibri"/>
              </a:rPr>
              <a:t>Crecimiento para n = 1..10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O(1)</c:v>
                </c:pt>
              </c:strCache>
            </c:strRef>
          </c:tx>
          <c:spPr>
            <a:solidFill>
              <a:srgbClr val="9FB0C9"/>
            </a:solidFill>
            <a:ln w="28575" cap="flat">
              <a:solidFill>
                <a:srgbClr val="9FB0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FB0C9"/>
              </a:solidFill>
              <a:ln w="9525" cap="flat">
                <a:solidFill>
                  <a:srgbClr val="9FB0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O(log n)</c:v>
                </c:pt>
              </c:strCache>
            </c:strRef>
          </c:tx>
          <c:spPr>
            <a:solidFill>
              <a:srgbClr val="5AA9E6"/>
            </a:solidFill>
            <a:ln w="28575" cap="flat">
              <a:solidFill>
                <a:srgbClr val="5AA9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A9E6"/>
              </a:solidFill>
              <a:ln w="9525" cap="flat">
                <a:solidFill>
                  <a:srgbClr val="5AA9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1.58</c:v>
                </c:pt>
                <c:pt idx="3">
                  <c:v>2</c:v>
                </c:pt>
                <c:pt idx="4">
                  <c:v>2.32</c:v>
                </c:pt>
                <c:pt idx="5">
                  <c:v>2.58</c:v>
                </c:pt>
                <c:pt idx="6">
                  <c:v>2.81</c:v>
                </c:pt>
                <c:pt idx="7">
                  <c:v>3</c:v>
                </c:pt>
                <c:pt idx="8">
                  <c:v>3.17</c:v>
                </c:pt>
                <c:pt idx="9">
                  <c:v>3.32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O(n)</c:v>
                </c:pt>
              </c:strCache>
            </c:strRef>
          </c:tx>
          <c:spPr>
            <a:solidFill>
              <a:srgbClr val="E8871E"/>
            </a:solidFill>
            <a:ln w="28575" cap="flat">
              <a:solidFill>
                <a:srgbClr val="E887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871E"/>
              </a:solidFill>
              <a:ln w="9525" cap="flat">
                <a:solidFill>
                  <a:srgbClr val="E887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 log n)</c:v>
                </c:pt>
              </c:strCache>
            </c:strRef>
          </c:tx>
          <c:spPr>
            <a:solidFill>
              <a:srgbClr val="D9A441"/>
            </a:solidFill>
            <a:ln w="28575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</c:v>
                </c:pt>
                <c:pt idx="1">
                  <c:v>2</c:v>
                </c:pt>
                <c:pt idx="2">
                  <c:v>4.75</c:v>
                </c:pt>
                <c:pt idx="3">
                  <c:v>8</c:v>
                </c:pt>
                <c:pt idx="4">
                  <c:v>11.61</c:v>
                </c:pt>
                <c:pt idx="5">
                  <c:v>15.51</c:v>
                </c:pt>
                <c:pt idx="6">
                  <c:v>19.65</c:v>
                </c:pt>
                <c:pt idx="7">
                  <c:v>24</c:v>
                </c:pt>
                <c:pt idx="8">
                  <c:v>28.53</c:v>
                </c:pt>
                <c:pt idx="9">
                  <c:v>33.22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O(n²)</c:v>
                </c:pt>
              </c:strCache>
            </c:strRef>
          </c:tx>
          <c:spPr>
            <a:solidFill>
              <a:srgbClr val="F07272"/>
            </a:solidFill>
            <a:ln w="28575" cap="flat">
              <a:solidFill>
                <a:srgbClr val="F072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07272"/>
              </a:solidFill>
              <a:ln w="9525" cap="flat">
                <a:solidFill>
                  <a:srgbClr val="F072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  <c:pt idx="8">
                  <c:v>81</c:v>
                </c:pt>
                <c:pt idx="9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E507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0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E507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E507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0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9FB0C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103120" cy="210312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8229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Computacional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108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Notación Asintótica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Lineales · Programación 2</a:t>
            </a:r>
            <a:endParaRPr lang="en-US" sz="1800" dirty="0"/>
          </a:p>
        </p:txBody>
      </p:sp>
      <p:pic>
        <p:nvPicPr>
          <p:cNvPr id="8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145" y="5943600"/>
            <a:ext cx="390791" cy="457200"/>
          </a:xfrm>
          <a:prstGeom prst="rect">
            <a:avLst/>
          </a:prstGeom>
        </p:spPr>
      </p:pic>
      <p:pic>
        <p:nvPicPr>
          <p:cNvPr id="9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5989320"/>
            <a:ext cx="1859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COMPLEJIDAD COMPUTACIONAL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nos importa?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 producto por código: recorrer el catálogo (lineal) vs. diccionario indexado.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formas dan el mismo resultado — la diferencia aparece cuando el catálogo crece.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lineal no falla: escala peor, al mismo ritmo que n.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0" y="192024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catalogo → n productos</a:t>
            </a:r>
            <a:endParaRPr lang="en-US" sz="1100" dirty="0"/>
          </a:p>
        </p:txBody>
      </p:sp>
      <p:pic>
        <p:nvPicPr>
          <p:cNvPr id="9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10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COMPLEJIDAD COMPUTACIONAL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de ejecución vs. número de operaciones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medimos en segundos: depende de la máquina, el lenguaje, la carga del sistema.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Contamos operaciones básicas: comparaciones, asignaciones, accesos por índice.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función de n, el tamaño de la entrada.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60720" y="1920240"/>
            <a:ext cx="5852160" cy="2103120"/>
          </a:xfrm>
          <a:prstGeom prst="roundRect">
            <a:avLst>
              <a:gd name="adj" fmla="val 3478"/>
            </a:avLst>
          </a:prstGeom>
          <a:solidFill>
            <a:srgbClr val="2E4066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16752" y="2103120"/>
            <a:ext cx="5340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buscar_producto_lineal(catalogo, codigo):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producto in catalogo:          </a:t>
            </a:r>
            <a:pPr indent="0" marL="0">
              <a:lnSpc>
                <a:spcPts val="1688"/>
              </a:lnSpc>
              <a:buNone/>
            </a:pPr>
            <a:r>
              <a:rPr lang="en-US" sz="1250" i="1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hasta n veces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producto.codigo == codigo:   </a:t>
            </a:r>
            <a:pPr indent="0" marL="0">
              <a:lnSpc>
                <a:spcPts val="1688"/>
              </a:lnSpc>
              <a:buNone/>
            </a:pPr>
            <a:r>
              <a:rPr lang="en-US" sz="1250" i="1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comparación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producto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4160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productos, código inexistente → n comparaciones</a:t>
            </a:r>
            <a:endParaRPr lang="en-US" sz="1250" dirty="0"/>
          </a:p>
        </p:txBody>
      </p:sp>
      <p:pic>
        <p:nvPicPr>
          <p:cNvPr id="10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11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COMPLEJIDAD COMPUTACIONAL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Notación Big-O (O grande)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O(f(n))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01168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superior del crecimiento: en el peor caso, el algoritmo no se comporta peor que esto.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 una garantía: cuánto puede llegar a tardar como máximo.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buscar_producto_lineal hace n comparaciones en el peor caso → es O(n).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C9"/>
                </a:solidFill>
              </a:rPr>
              <a:t>Para profundizar en la definición formal: </a:t>
            </a:r>
            <a:pPr indent="0" marL="0">
              <a:buNone/>
            </a:pPr>
            <a:r>
              <a:rPr lang="en-US" sz="1250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sbondaryev.dev/articles/big-o-notation</a:t>
            </a:r>
            <a:endParaRPr lang="en-US" sz="1250" dirty="0"/>
          </a:p>
        </p:txBody>
      </p:sp>
      <p:pic>
        <p:nvPicPr>
          <p:cNvPr id="10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11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COMPLEJIDAD COMPUTACIONAL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Complejidades comunes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5394960" cy="3566160"/>
        </p:xfrm>
        <a:graphic>
          <a:graphicData uri="http://schemas.openxmlformats.org/drawingml/2006/table">
            <a:tbl>
              <a:tblPr/>
              <a:tblGrid>
                <a:gridCol w="137160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en la tienda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Acceder al primer producto: carrito[0]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O(log 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binaria en el catálogo ordenado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Aplicar un descuento a todo el catálogo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 log 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Ordenar el catálogo por precio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O(n²)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Detectar duplicados (comparar todos contra todos)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O(2ⁿ)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Combinaciones posibles para una promoción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6035040" y="192024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8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9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COMPLEJIDAD COMPUTACIONAL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prácticas (1–3)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65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 simples: O(n)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2E4066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743200"/>
            <a:ext cx="3054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producto in catalogo: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producto.precio *= 0.9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65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 anidados: O(n²)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2560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2E4066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2743200"/>
            <a:ext cx="3054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p1 in enumerate(cat):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p2 in cat[i+1:]: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p1.codigo == p2.codigo: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True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1965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Secuencial: domina el mayor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2560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2E4066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02752" y="2743200"/>
            <a:ext cx="3054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ordenado = sorted(cat, ...)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pPr indent="0" marL="0">
              <a:lnSpc>
                <a:spcPts val="1418"/>
              </a:lnSpc>
              <a:buNone/>
            </a:pPr>
            <a:r>
              <a:rPr lang="en-US" sz="1050" i="1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O(n log n)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ordenado: print(p)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pPr indent="0" marL="0">
              <a:lnSpc>
                <a:spcPts val="1418"/>
              </a:lnSpc>
              <a:buNone/>
            </a:pPr>
            <a:r>
              <a:rPr lang="en-US" sz="1050" i="1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O(n) = O(n log n)</a:t>
            </a:r>
            <a:endParaRPr lang="en-US" sz="1050" dirty="0"/>
          </a:p>
        </p:txBody>
      </p:sp>
      <p:pic>
        <p:nvPicPr>
          <p:cNvPr id="21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22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COMPLEJIDAD COMPUTACIONAL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prácticas (4–5)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057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constantes se ignoran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2E4066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880360"/>
            <a:ext cx="4608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catalogo: print(p)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catalogo: print(p)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pPr indent="0" marL="0">
              <a:lnSpc>
                <a:spcPts val="1688"/>
              </a:lnSpc>
              <a:buNone/>
            </a:pPr>
            <a:r>
              <a:rPr lang="en-US" sz="1250" i="1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O(n) + O(n) = O(2n) = O(n)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057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 de n: O(1)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269748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2E4066"/>
          </a:solidFill>
          <a:ln w="12700">
            <a:solidFill>
              <a:srgbClr val="3E50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2880360"/>
            <a:ext cx="4608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primer_producto(carrito):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FB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carrito[0]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pPr indent="0" marL="0">
              <a:lnSpc>
                <a:spcPts val="1688"/>
              </a:lnSpc>
              <a:buNone/>
            </a:pPr>
            <a:r>
              <a:rPr lang="en-US" sz="1250" i="1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recorre nada: O(1)</a:t>
            </a:r>
            <a:endParaRPr lang="en-US" sz="1250" dirty="0"/>
          </a:p>
        </p:txBody>
      </p:sp>
      <p:pic>
        <p:nvPicPr>
          <p:cNvPr id="16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17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COMPLEJIDAD COMPUTACIONAL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bloque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943600" cy="338328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O(log 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Logarítmica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 log 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Cuasilineal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O(n²)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Cuadrática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O(2ⁿ)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0" y="23774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menor a mayor crecimiento — clave para comparar estructuras y algoritmos.</a:t>
            </a:r>
            <a:endParaRPr lang="en-US" sz="2000" dirty="0"/>
          </a:p>
        </p:txBody>
      </p:sp>
      <p:pic>
        <p:nvPicPr>
          <p:cNvPr id="8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567" y="6035040"/>
            <a:ext cx="312633" cy="365760"/>
          </a:xfrm>
          <a:prstGeom prst="rect">
            <a:avLst/>
          </a:prstGeom>
        </p:spPr>
      </p:pic>
      <p:pic>
        <p:nvPicPr>
          <p:cNvPr id="9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216" y="6071616"/>
            <a:ext cx="1487424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2026-09-16T22:18:16Z</dcterms:created>
  <dcterms:modified xsi:type="dcterms:W3CDTF">2026-09-16T22:18:16Z</dcterms:modified>
</cp:coreProperties>
</file>